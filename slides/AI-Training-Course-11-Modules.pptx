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8:45am · 70 min · Grounding</a:t>
            </a:r>
          </a:p>
          <a:p>
            <a:r>
              <a:t>Day one, session 1 of 6</a:t>
            </a:r>
          </a:p>
          <a:p>
            <a:r>
              <a:t>Source: course-productivity.html, module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10:10am · 110 min · Guided practice</a:t>
            </a:r>
          </a:p>
          <a:p>
            <a:r>
              <a:t>Day one, session 2 of 6</a:t>
            </a:r>
          </a:p>
          <a:p>
            <a:r>
              <a:t>Source: course-productivity.html, module 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1:00pm · 40 min · Assessment</a:t>
            </a:r>
          </a:p>
          <a:p>
            <a:r>
              <a:t>Day one, session 3 of 6</a:t>
            </a:r>
          </a:p>
          <a:p>
            <a:r>
              <a:t>Source: course-productivity.html, module 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1:40pm · 75 min · Guided practice</a:t>
            </a:r>
          </a:p>
          <a:p>
            <a:r>
              <a:t>Day one, session 4 of 6</a:t>
            </a:r>
          </a:p>
          <a:p>
            <a:r>
              <a:t>Source: restructured from old module-7-outline.md (Skills), per direct instruction — moved to day one because Skills work inside a single chat session and don't depend on Projects (module 7, day two) being taught first. Positioned before module 5 (Data Analysis) specifically so participants can apply a Skill to that real task right after learning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3:10pm · ~105 min · Guided practice</a:t>
            </a:r>
          </a:p>
          <a:p>
            <a:r>
              <a:t>Day one, session 5 of 6</a:t>
            </a:r>
          </a:p>
          <a:p>
            <a:r>
              <a:t>Source: combines REACT (previously its own module 6) and Six Thinking Hats (previously day two's module 10) into a single module, per direct instruction. Both are framed as conversation-quality techniques, distinct from module 4's Skills (which is about automating recurring procedures, not deepening a single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5:05pm · 65 min · Guided practice</a:t>
            </a:r>
          </a:p>
          <a:p>
            <a:r>
              <a:t>Day one, session 6 of 6 (closing session)</a:t>
            </a:r>
          </a:p>
          <a:p>
            <a:r>
              <a:t>Source: course-productivity.html, module 4 (data analysis content). Swapped back to being day one's closer, per direct instruction — module 5 (REACT + Six Thinking Hats) now runs before this instead of after.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8:30am · 75 min · Guided practice</a:t>
            </a:r>
          </a:p>
          <a:p>
            <a:r>
              <a:t>Day two, session 1 of 5</a:t>
            </a:r>
          </a:p>
          <a:p>
            <a:r>
              <a:t>Source: course-productivity.html, module 6 (Cowork content removed — see notes). Renumbered from module 6 to module 7 as part of the twelve-module restructure (REACT became day one's new module 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10:00am · 75 min · Guided practice</a:t>
            </a:r>
          </a:p>
          <a:p>
            <a:r>
              <a:t>Day two, session 2 of 5</a:t>
            </a:r>
          </a:p>
          <a:p>
            <a:r>
              <a:t>Source: new module, built out of what was one introductory slide in module 7 (Projects) and expanded into its own session. Renumbered from module 7 to module 8 as part of the twelve-module restructure.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12:15pm · 50 min · Guided practice</a:t>
            </a:r>
          </a:p>
          <a:p>
            <a:r>
              <a:t>Day two, session 3 of 5</a:t>
            </a:r>
          </a:p>
          <a:p>
            <a:r>
              <a:t>Source: course-productivity.html, module 8. Renumbered from module 8 to module 9 as part of the twelve-module restructure.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1:20pm · 80 min · Build</a:t>
            </a:r>
          </a:p>
          <a:p>
            <a:r>
              <a:t>Day two, session 4 of 5</a:t>
            </a:r>
          </a:p>
          <a:p>
            <a:r>
              <a:t>Source: course-productivity.html, module 10. Renumbered from module 11 to module 10 after Six Thinking Hats was absorbed into day one's module 5, freeing up a slot on day two.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2:50pm · 70 min (restored to full length) · Capstone</a:t>
            </a:r>
          </a:p>
          <a:p>
            <a:r>
              <a:t>Day two, session 5 of 5 (last teaching session — followed by day-2 closing, not by end of course)</a:t>
            </a:r>
          </a:p>
          <a:p>
            <a:r>
              <a:t>Source: course-productivity.html, module 11. Renumbered from module 12 to module 11 after Six Thinking Hats was absorbed into day one's module 5, freeing up enough time on day two to restore this module's original 9-slide, 70-minute version instead of the previously trimmed 7-slide, 55-minute cut.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Module 1 — Introduction to AI and Claude for Productivity</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Module 1</a:t>
            </a:r>
          </a:p>
          <a:p>
            <a:pPr>
              <a:spcAft>
                <a:spcPts val="1200"/>
              </a:spcAft>
            </a:pPr>
            <a:r>
              <a:rPr sz="2000"/>
              <a:t>Introduction to AI and Claude for Productivity</a:t>
            </a:r>
          </a:p>
          <a:p>
            <a:pPr>
              <a:spcAft>
                <a:spcPts val="1200"/>
              </a:spcAft>
            </a:pPr>
            <a:r>
              <a:rPr sz="2000"/>
              <a:t>(subtitle: setting up the two days)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Where this sits</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Agenda / roadmap slide.</a:t>
            </a:r>
          </a:p>
          <a:p>
            <a:pPr>
              <a:spcAft>
                <a:spcPts val="1200"/>
              </a:spcAft>
            </a:pPr>
            <a:r>
              <a:rPr sz="2000"/>
              <a:t>Show the 11-module, 2-day shape with this module highlighted as the opening.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The role of generative AI in business</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The role of generative AI in business productivity and strategic decision-making.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Is using AI at work "cheating"?</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Not in the source course outline — added to name the quiet objection some participants walk in with, before it becomes a distraction later.</a:t>
            </a:r>
          </a:p>
          <a:p>
            <a:pPr>
              <a:spcAft>
                <a:spcPts val="1200"/>
              </a:spcAft>
            </a:pPr>
            <a:r>
              <a:rPr sz="2000"/>
              <a:t>The frame: a bad manager dumps a task on a junior with no context, no check-in and no review, then blames the junior when it comes back wrong. A good manager briefs properly, discusses the approach, and reviews the work together — the junior grows, and so does the output. Using AI works the same way. Handing AI a vague ask and shipping whatever comes back unreviewed is the bad-manager pattern; briefing it properly and checking its work (modules 2 and 9) is the good-manager pattern.</a:t>
            </a:r>
          </a:p>
          <a:p>
            <a:pPr>
              <a:spcAft>
                <a:spcPts val="1200"/>
              </a:spcAft>
            </a:pPr>
            <a:r>
              <a:rPr sz="2000"/>
              <a:t>The reframe: the question isn't "is AI allowed" — it's "am I managing it well." Delegation was never cheating when done with a junior; it isn't cheating done with AI either, as long as the same judgement gets applied.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Models, tokens and context</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Understanding AI models, tokens and context — what business leaders need to know.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Context windows, context rot, and when to start fresh</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Not in the source course outline — added as the direct, practical follow-on from slide 5's context explanation.</a:t>
            </a:r>
          </a:p>
          <a:p>
            <a:pPr>
              <a:spcAft>
                <a:spcPts val="1200"/>
              </a:spcAft>
            </a:pPr>
            <a:r>
              <a:rPr sz="2000"/>
              <a:t>Context windows differ by model. Every model has a maximum amount it can hold in one conversation, and that ceiling varies across the model lineup — bigger isn't automatically the better default choice for a given task (ties back into slide 7's model-selection content).</a:t>
            </a:r>
          </a:p>
          <a:p>
            <a:pPr>
              <a:spcAft>
                <a:spcPts val="1200"/>
              </a:spcAft>
            </a:pPr>
            <a:r>
              <a:rPr sz="2000"/>
              <a:t>Why maxing it out isn't free, even when the ceiling is high. Two separate costs: it consumes tokens (and tokens cost money at volume, relevant to module 3's tier/policy content), and — regardless of budget — reliability on information from earlier in a long conversation degrades the longer that conversation runs, even though the window technically still holds it. That's context rot: not a bug, a property of how these models attend to long input.</a:t>
            </a:r>
          </a:p>
          <a:p>
            <a:pPr>
              <a:spcAft>
                <a:spcPts val="1200"/>
              </a:spcAft>
            </a:pPr>
            <a:r>
              <a:rPr sz="2000"/>
              <a:t>The practical rule participants leave with: several shorter, focused conversations beat one sprawling thread. When a chat has drifted across multiple unrelated tasks, when it's carrying a lot of dead weight from earlier turns, or when outputs start ignoring instructions given early on — that's the signal to start a new session rather than push the same one further. This is also the real justification for module 7's Projects, not just a convenience feature.</a:t>
            </a:r>
          </a:p>
          <a:p>
            <a:pPr>
              <a:spcAft>
                <a:spcPts val="1200"/>
              </a:spcAft>
            </a:pPr>
            <a:r>
              <a:rPr sz="2000"/>
              <a:t>Visual: screenshot of the model picker/new-chat control in the Claude UI, ideally showing the context-window indicator if one is visible — grounds the "start fresh" instruction in something participants will actually click.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Choosing the right Claude model</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Claude model selection for business use — matching capability to task complexity.</a:t>
            </a:r>
          </a:p>
          <a:p>
            <a:pPr>
              <a:spcAft>
                <a:spcPts val="1200"/>
              </a:spcAft>
            </a:pPr>
            <a:r>
              <a:rPr sz="2000"/>
              <a:t>Visual: screenshot of the Claude model selector dropdown, showing the model lineup side by side.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The Claude 6 Main Pillars</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The Claude 6 Main Pillars: Read, Write, Analyse, Automate, Think, Build.</a:t>
            </a:r>
          </a:p>
          <a:p>
            <a:pPr>
              <a:spcAft>
                <a:spcPts val="1200"/>
              </a:spcAft>
            </a:pPr>
            <a:r>
              <a:rPr sz="2000"/>
              <a:t>(This is the frame the rest of the two days maps to — worth a slide of its own per capability later.)</a:t>
            </a:r>
          </a:p>
          <a:p>
            <a:pPr>
              <a:spcAft>
                <a:spcPts val="1200"/>
              </a:spcAft>
            </a:pPr>
            <a:r>
              <a:rPr sz="2000"/>
              <a:t>Visual: less of a single-screenshot slide than 6, 7 and 9 — if this splits into a six-capability sub-sequence (per the note below), each sub-slide is a better place for one small example screenshot per pillar (e.g. a real chat showing a "Read" task) than one screenshot on the summary slide.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Hands-on</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Guided exploration of Claude's interface, with live capability demonstrations.</a:t>
            </a:r>
          </a:p>
          <a:p>
            <a:pPr>
              <a:spcAft>
                <a:spcPts val="1200"/>
              </a:spcAft>
            </a:pPr>
            <a:r>
              <a:rPr sz="2000"/>
              <a:t>(Transition into practical time — no more front-of-room content after this until module 2.)</a:t>
            </a:r>
          </a:p>
          <a:p>
            <a:pPr>
              <a:spcAft>
                <a:spcPts val="1200"/>
              </a:spcAft>
            </a:pPr>
            <a:r>
              <a:rPr sz="2000"/>
              <a:t>Visual: this is the slide most worth a full walkthrough — sequential screenshots of the Claude interface (chat box, sidebar, model picker, attachments) as the facilitator tours it live, or a single annotated screenshot if the walkthrough stays verbal.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Close / bridge to Module 2</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Recap the four things just covered.</a:t>
            </a:r>
          </a:p>
          <a:p>
            <a:pPr>
              <a:spcAft>
                <a:spcPts val="1200"/>
              </a:spcAft>
            </a:pPr>
            <a:r>
              <a:rPr sz="2000"/>
              <a:t>Bridge line into Module 2: "Effective AI communication" — now that everyone can see what Claude does, next is how to brief it properly.</a:t>
            </a:r>
          </a:p>
          <a:p>
            <a:pPr>
              <a:spcAft>
                <a:spcPts val="1200"/>
              </a:spcAft>
            </a:pPr>
            <a:r>
              <a:rPr sz="2000"/>
              <a:t>(No screenshot needed — this is a recap/bridge slide, not a teaching 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Module 2 — Effective AI Communication</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Module 2</a:t>
            </a:r>
          </a:p>
          <a:p>
            <a:pPr>
              <a:spcAft>
                <a:spcPts val="1200"/>
              </a:spcAft>
            </a:pPr>
            <a:r>
              <a:rPr sz="2000"/>
              <a:t>Effective AI Communication</a:t>
            </a:r>
          </a:p>
          <a:p>
            <a:pPr>
              <a:spcAft>
                <a:spcPts val="1200"/>
              </a:spcAft>
            </a:pPr>
            <a:r>
              <a:rPr sz="2000"/>
              <a:t>(subtitle: how to brief it properly)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The 5 Ingredients</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The 5 Ingredients of an effective AI brief: Role, Context, Task, Format, Constraint.</a:t>
            </a:r>
          </a:p>
          <a:p>
            <a:pPr>
              <a:spcAft>
                <a:spcPts val="1200"/>
              </a:spcAft>
            </a:pPr>
            <a:r>
              <a:rPr sz="2000"/>
              <a:t>(Carried over from module 1's note: this is the natural place for the "vague brief, two groups, one uses Claude" exercise — as the problem this framework then solves, not a standalone icebreaker. Not decided yet — flagging here for discussion before it's built 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Three business scenarios</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Practical application across three business scenarios: crisis response, business case development, and competitive positioning.</a:t>
            </a:r>
          </a:p>
          <a:p>
            <a:pPr>
              <a:spcAft>
                <a:spcPts val="1200"/>
              </a:spcAft>
            </a:pPr>
            <a:r>
              <a:rPr sz="2000"/>
              <a:t>Breadth practice — one brief per scenario, applying the 5 Ingredients across different contexts to build the habit before the bigger challenge.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The strategy challenge</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Producing a data-informed strategic recommendation from provided performance metrics — revenue trends, average spend, guest segmentation and occupancy data.</a:t>
            </a:r>
          </a:p>
          <a:p>
            <a:pPr>
              <a:spcAft>
                <a:spcPts val="1200"/>
              </a:spcAft>
            </a:pPr>
            <a:r>
              <a:rPr sz="2000"/>
              <a:t>The centerpiece exercise — one substantial, data-grounded task rather than another quick scenario. This is the output Slide 5 then refines.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Iterating on outputs</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Evaluating and improving AI outputs through iterative briefing.</a:t>
            </a:r>
          </a:p>
          <a:p>
            <a:pPr>
              <a:spcAft>
                <a:spcPts val="1200"/>
              </a:spcAft>
            </a:pPr>
            <a:r>
              <a:rPr sz="2000"/>
              <a:t>Builds directly on the strategy challenge's output (Slide 4) — not a new task, but the critique-and-rebrief loop applied to what was just produced.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Hands-on</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Participants produce and refine strategic deliverables using structured briefing techniques and supporting data.</a:t>
            </a:r>
          </a:p>
          <a:p>
            <a:pPr>
              <a:spcAft>
                <a:spcPts val="1200"/>
              </a:spcAft>
            </a:pPr>
            <a:r>
              <a:rPr sz="2000"/>
              <a:t>(Longest hands-on block relative to content of any session so far — 110 min total across 4 sections + this practical, so most of the module is doing, not listening.)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Close / bridge to Module 3</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Recap the 5 Ingredients and the iterative-briefing habit.</a:t>
            </a:r>
          </a:p>
          <a:p>
            <a:pPr>
              <a:spcAft>
                <a:spcPts val="1200"/>
              </a:spcAft>
            </a:pPr>
            <a:r>
              <a:rPr sz="2000"/>
              <a:t>Bridge line into Module 3: "AI governance, data security and responsible use" — before going further, a pause on what should and shouldn't go into these conversations.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Module 3 — AI Governance, Data Security and Responsible Use</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Module 3</a:t>
            </a:r>
          </a:p>
          <a:p>
            <a:pPr>
              <a:spcAft>
                <a:spcPts val="1200"/>
              </a:spcAft>
            </a:pPr>
            <a:r>
              <a:rPr sz="2000"/>
              <a:t>AI Governance, Data Security and Responsible Use</a:t>
            </a:r>
          </a:p>
          <a:p>
            <a:pPr>
              <a:spcAft>
                <a:spcPts val="1200"/>
              </a:spcAft>
            </a:pPr>
            <a:r>
              <a:rPr sz="2000"/>
              <a:t>(subtitle: what should never go into a chat)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Kahoot: Spot the Fake</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Live Kahoot quiz, played cold, before any teaching: a series of app logos/icons, real AI tools mixed with fraudulent or data-harvesting lookalikes. Participants vote on their phones for real vs. fake, round by round.</a:t>
            </a:r>
          </a:p>
          <a:p>
            <a:pPr>
              <a:spcAft>
                <a:spcPts val="1200"/>
              </a:spcAft>
            </a:pPr>
            <a:r>
              <a:rPr sz="2000"/>
              <a:t>Runs as a diagnostic, not a recap — nobody's been taught anything yet, so wrong answers are expected and that's the point. Sets up slide 3 as "here's why you just got that wrong" instead of a cold list of tips.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Legitimate tools vs. fraud</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Identifying legitimate AI tools against fraudulent applications and data-harvesting platforms.</a:t>
            </a:r>
          </a:p>
          <a:p>
            <a:pPr>
              <a:spcAft>
                <a:spcPts val="1200"/>
              </a:spcAft>
            </a:pPr>
            <a:r>
              <a:rPr sz="2000"/>
              <a:t>(Debriefs the Kahoot directly — walk back through the rounds people got wrong and explain the tell each time, rather than teaching this as fresh content.)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Data classification framework</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A data classification framework for deciding what business information is safe to share with AI.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Free vs. paid tier data handling</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Understanding data handling policies across free and paid AI tiers.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AI hallucinations</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Not in the source course outline — added as the direct justification for slide 7's checklist.</a:t>
            </a:r>
          </a:p>
          <a:p>
            <a:pPr>
              <a:spcAft>
                <a:spcPts val="1200"/>
              </a:spcAft>
            </a:pPr>
            <a:r>
              <a:rPr sz="2000"/>
              <a:t>What a hallucination is: the model producing fluent, confident, wrong information with no built-in flag that it's uncertain. Plain-language cause for a business audience — it's predicting plausible next text, not looking anything up — without turning this into a technical detour.</a:t>
            </a:r>
          </a:p>
          <a:p>
            <a:pPr>
              <a:spcAft>
                <a:spcPts val="1200"/>
              </a:spcAft>
            </a:pPr>
            <a:r>
              <a:rPr sz="2000"/>
              <a:t>Why it's here, not earlier: this is the risk the Responsible AI checklist's "verification of outputs" item exists to catch. Teaching the failure mode immediately before the fix, same shape as slide 2's Kahoot into slide 3's debrief.</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The Responsible AI checklist</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The Responsible AI checklist: verification of outputs, bias awareness, and human oversight.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Interactive assessment</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Applied scenarios testing governance and security judgement.</a:t>
            </a:r>
          </a:p>
          <a:p>
            <a:pPr>
              <a:spcAft>
                <a:spcPts val="1200"/>
              </a:spcAft>
            </a:pPr>
            <a:r>
              <a:rPr sz="2000"/>
              <a:t>(This module's takeaway is an assessment, not a build — shortest and most serious module of day one at 40 min. Distinct from slide 2's Kahoot: this covers the full governance/security scope — classification, tier policy, hallucinations, the checklist — not just logo recognition.)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Close / bridge to Module 4</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Recap the checklist and the classification framework — this is the lens every later module gets filtered through.</a:t>
            </a:r>
          </a:p>
          <a:p>
            <a:pPr>
              <a:spcAft>
                <a:spcPts val="1200"/>
              </a:spcAft>
            </a:pPr>
            <a:r>
              <a:rPr sz="2000"/>
              <a:t>Bridge line into Module 4: "Skills" — now that everyone knows what's safe to share with AI, the next question is how to make it repeat that judgement automatically.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Module 4 — Skills: Reusable Procedures for Recurring Work</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Module 4</a:t>
            </a:r>
          </a:p>
          <a:p>
            <a:pPr>
              <a:spcAft>
                <a:spcPts val="1200"/>
              </a:spcAft>
            </a:pPr>
            <a:r>
              <a:rPr sz="2000"/>
              <a:t>Skills: Reusable Procedures for Recurring Work</a:t>
            </a:r>
          </a:p>
          <a:p>
            <a:pPr>
              <a:spcAft>
                <a:spcPts val="1200"/>
              </a:spcAft>
            </a:pPr>
            <a:r>
              <a:rPr sz="2000"/>
              <a:t>(subtitle: teach it once, stop repeating yourself)</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From ad-hoc to standardised</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From ad-hoc outputs to standardised procedures: what Skills are, and why they matter.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Live demonstration</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The same request with and without a Skill, compared before and after.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Using /skill-creator</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Using /skill-creator to build structured, reusable decision playbooks.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Hands-on: build two Skills</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Each participant creates two Skills for their workspace and validates them with side-by-side testing.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Close / bridge to Module 5</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Recap: a Skill holds procedure, so it doesn't need re-explaining.</a:t>
            </a:r>
          </a:p>
          <a:p>
            <a:pPr>
              <a:spcAft>
                <a:spcPts val="1200"/>
              </a:spcAft>
            </a:pPr>
            <a:r>
              <a:rPr sz="2000"/>
              <a:t>Bridge line into Module 5: "AI-powered business data analysis" — put that straight to work on a real task, starting now.</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Module 5 — Enhance Your Conversation with Claude</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Module 5</a:t>
            </a:r>
          </a:p>
          <a:p>
            <a:pPr>
              <a:spcAft>
                <a:spcPts val="1200"/>
              </a:spcAft>
            </a:pPr>
            <a:r>
              <a:rPr sz="2000"/>
              <a:t>Enhance Your Conversation with Claude</a:t>
            </a:r>
          </a:p>
          <a:p>
            <a:pPr>
              <a:spcAft>
                <a:spcPts val="1200"/>
              </a:spcAft>
            </a:pPr>
            <a:r>
              <a:rPr sz="2000"/>
              <a:t>(subtitle: two techniques worth carrying into every session after this)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Why these two, together</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Not in the original course outline — this framing slide exists because REACT and Six Thinking Hats are being taught back to back for the first time.</a:t>
            </a:r>
          </a:p>
          <a:p>
            <a:pPr>
              <a:spcAft>
                <a:spcPts val="1200"/>
              </a:spcAft>
            </a:pPr>
            <a:r>
              <a:rPr sz="2000"/>
              <a:t>Module 4 taught Skills: automating a procedure so you don't re-explain it. These two are different — they're about getting more out of a single conversation while you're having it. REACT makes what Claude gives you back sound human. Six Thinking Hats makes what Claude gives you back better-reasoned. Both are habits, not features — nothing to configure, just something to do differently every time.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The REACT framework</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A self-editing checklist for spotting and removing the patterns that make AI-generated text read as obviously AI-generated, so the output sounds like a person wrote it.</a:t>
            </a:r>
          </a:p>
          <a:p>
            <a:pPr>
              <a:spcAft>
                <a:spcPts val="1200"/>
              </a:spcAft>
            </a:pPr>
            <a:r>
              <a:rPr sz="2000"/>
              <a:t>- R — Repetition. AI falls into repeating the same phrase, restating one point three different ways, or reflexively listing things in threes. Cut the redundant restatement.</a:t>
            </a:r>
          </a:p>
          <a:p>
            <a:pPr>
              <a:spcAft>
                <a:spcPts val="1200"/>
              </a:spcAft>
            </a:pPr>
            <a:r>
              <a:rPr sz="2000"/>
              <a:t>- E — Emdash. One of the most reliable AI tells — used as connective tissue everywhere a period, comma or nothing would do. Strip it out.</a:t>
            </a:r>
          </a:p>
          <a:p>
            <a:pPr>
              <a:spcAft>
                <a:spcPts val="1200"/>
              </a:spcAft>
            </a:pPr>
            <a:r>
              <a:rPr sz="2000"/>
              <a:t>- A — Amplified language. Inflated, hype-y word choices AI reaches for by default — "game-changing," "unlock," "revolutionize," "seamless," "crucial," "elevate" — that a person writing plainly about their own business rarely uses.</a:t>
            </a:r>
          </a:p>
          <a:p>
            <a:pPr>
              <a:spcAft>
                <a:spcPts val="1200"/>
              </a:spcAft>
            </a:pPr>
            <a:r>
              <a:rPr sz="2000"/>
              <a:t>- C — Contrast. The "it's not just X, it's Y" or "not only... but also" construction — a rhetorical crutch AI leans on constantly to sound insightful. Say the plain thing directly instead.</a:t>
            </a:r>
          </a:p>
          <a:p>
            <a:pPr>
              <a:spcAft>
                <a:spcPts val="1200"/>
              </a:spcAft>
            </a:pPr>
            <a:r>
              <a:rPr sz="2000"/>
              <a:t>- T — Trust your gut. After checking the first four, read it once more. If it still feels like AI wrote it but doesn't fit a category above, fix it anyway — the checklist catches the common patterns, not every pattern.</a:t>
            </a:r>
          </a:p>
          <a:p>
            <a:pPr>
              <a:spcAft>
                <a:spcPts val="1200"/>
              </a:spcAft>
            </a:pPr>
            <a:r>
              <a:rPr sz="2000"/>
              <a:t>(Worth calling out live: this is the exact discipline Blueprint's own marketing copy is written under — no em dashes, no slogan-cadence sentences, no AI-pattern writing is a standing rule for this company's own website.)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Hands-on: applying REACT</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Participants take the strategic recommendation they produced back in module 2's strategy challenge and run it through the REACT checklist by hand, editing line by line, then compare their edited version against the original side by side.</a:t>
            </a:r>
          </a:p>
          <a:p>
            <a:pPr>
              <a:spcAft>
                <a:spcPts val="1200"/>
              </a:spcAft>
            </a:pPr>
            <a:r>
              <a:rPr sz="2000"/>
              <a:t>A partner check works well here — a second pair of eyes is often faster at spotting em dashes and amplified language than the person who wrote the original prompt.</a:t>
            </a:r>
          </a:p>
          <a:p>
            <a:pPr>
              <a:spcAft>
                <a:spcPts val="1200"/>
              </a:spcAft>
            </a:pPr>
            <a:r>
              <a:rPr sz="2000"/>
              <a:t>(Reaches back to module 2's output, not a same-module output — a consequence of this reorder. See notes.)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Claude as a debate partner</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Using Claude as a strategic debate partner, through the Six Thinking Hats methodology.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Applying it to a real decision</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Applying multi-perspective analysis to the real decisions each participant is currently facing.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Data-driven argumentation</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Data-driven argumentation: the White Hat must cite specific department metrics, with no claim allowed without a supporting number.</a:t>
            </a:r>
          </a:p>
          <a:p>
            <a:pPr>
              <a:spcAft>
                <a:spcPts val="1200"/>
              </a:spcAft>
            </a:pPr>
            <a:r>
              <a:rPr sz="2000"/>
              <a:t>(This is the one hat with a hard rule attached — worth its own emphasis rather than blending into the six-hat list.)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Preventing the "yes man" problem</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Claude, like most AI assistants, is trained to be agreeable. Left unprompted, it will often validate a weak idea rather than push back on it — this is a known failure mode (sycophancy), not a personality quirk to route around case by case.</a:t>
            </a:r>
          </a:p>
          <a:p>
            <a:pPr>
              <a:spcAft>
                <a:spcPts val="1200"/>
              </a:spcAft>
            </a:pPr>
            <a:r>
              <a:rPr sz="2000"/>
              <a:t>The fix: ask it to argue against your position, assign it a skeptic or devil's-advocate role, or explicitly ask what's wrong with the plan before asking what's right about it. The Six Thinking Hats structure does this by design — the Black Hat exists specifically so pushback isn't optional. Treat easy agreement from Claude the way a good manager treats a junior who never disagrees: as a signal to ask harder questions, not as confirmation.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Challenging AI recommendations</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Challenging and refining AI recommendations through structured argument.</a:t>
            </a:r>
          </a:p>
          <a:p>
            <a:pPr>
              <a:spcAft>
                <a:spcPts val="1200"/>
              </a:spcAft>
            </a:pPr>
            <a:r>
              <a:rPr sz="2000"/>
              <a:t>(This is the how, following slide 8's why — structured argument is what makes genuine pushback happen instead of hoping for it.)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Hands-on: the six perspectives</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The room runs the six perspectives together on a real business question, working in small groups rather than in Claude Cowork — Cowork isn't taught until day two. Each participant leaves with a data-backed decision document for a real business question.</a:t>
            </a:r>
          </a:p>
          <a:p>
            <a:pPr>
              <a:spcAft>
                <a:spcPts val="1200"/>
              </a:spcAft>
            </a:pPr>
            <a:r>
              <a:rPr sz="2000"/>
              <a:t>(Day two's Cowork module revisits this exact exercise — participants redo it properly collaborative once they have the tool for it. See module-8-outline.md.)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Close / bridge to Module 6</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Recap: REACT for how it sounds, Six Thinking Hats for how well-reasoned it is.</a:t>
            </a:r>
          </a:p>
          <a:p>
            <a:pPr>
              <a:spcAft>
                <a:spcPts val="1200"/>
              </a:spcAft>
            </a:pPr>
            <a:r>
              <a:rPr sz="2000"/>
              <a:t>Bridge line into Module 6: "AI-powered business data analysis" — now put both habits to work on a real dataset.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Module 6 — AI-Powered Business Data Analysis: From Numbers to Insights</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Module 6</a:t>
            </a:r>
          </a:p>
          <a:p>
            <a:pPr>
              <a:spcAft>
                <a:spcPts val="1200"/>
              </a:spcAft>
            </a:pPr>
            <a:r>
              <a:rPr sz="2000"/>
              <a:t>AI-Powered Business Data Analysis: From Numbers to Insights</a:t>
            </a:r>
          </a:p>
          <a:p>
            <a:pPr>
              <a:spcAft>
                <a:spcPts val="1200"/>
              </a:spcAft>
            </a:pPr>
            <a:r>
              <a:rPr sz="2000"/>
              <a:t>(subtitle: from a spreadsheet to a recommendation)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The Analysis Ladder</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The Analysis Ladder framework: Prepare, Describe, Diagnose, Prescribe.</a:t>
            </a:r>
          </a:p>
          <a:p>
            <a:pPr>
              <a:spcAft>
                <a:spcPts val="1200"/>
              </a:spcAft>
            </a:pPr>
            <a:r>
              <a:rPr sz="2000"/>
              <a:t>(Second load-bearing framework of the course, after the 5 Ingredients — likely worth the same one-sub-slide-per-rung treatment.)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Uploading and orienting datasets</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Uploading and orienting business datasets for AI-assisted analysis.</a:t>
            </a:r>
          </a:p>
          <a:p>
            <a:pPr>
              <a:spcAft>
                <a:spcPts val="1200"/>
              </a:spcAft>
            </a:pPr>
            <a:r>
              <a:rPr sz="2000"/>
              <a:t>(Good moment for an explicit callback to module 4's Skills, and to module 5's REACT and Six Thinking Hats — this is where all three get applied together for the first time.)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Descriptive to diagnostic to strategic</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Moving from descriptive analytics to diagnostic insight and strategic recommendations.</a:t>
            </a:r>
          </a:p>
          <a:p>
            <a:pPr>
              <a:spcAft>
                <a:spcPts val="1200"/>
              </a:spcAft>
            </a:pPr>
            <a:r>
              <a:rPr sz="2000"/>
              <a:t>(This is the Ladder in motion — Describe/Diagnose/Prescribe applied, not new content on top of Slide 2.)</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Human-in-the-loop judgement</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Human-in-the-loop decision-making: evaluating AI recommendations with business judgement.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Hands-on</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Participants analyse a 1,000-row performance dataset and produce an executive summary with strategic recommendations.</a:t>
            </a:r>
          </a:p>
          <a:p>
            <a:pPr>
              <a:spcAft>
                <a:spcPts val="1200"/>
              </a:spcAft>
            </a:pPr>
            <a:r>
              <a:rPr sz="2000"/>
              <a:t>(This dataset is reused in module 9 for the dashboard build. Worth a live nudge here: "run this summary through REACT before you're done" — module 5's habit doesn't stop applying just because the module ended.)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Day one reflection and close</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Day one reflection and confidence assessment.</a:t>
            </a:r>
          </a:p>
          <a:p>
            <a:pPr>
              <a:spcAft>
                <a:spcPts val="1200"/>
              </a:spcAft>
            </a:pPr>
            <a:r>
              <a:rPr sz="2000"/>
              <a:t>Close of day one. No overnight assignment — the old "applied problem solving" closing session was cut rather than relocated. See day-2-opening-outline.md, which depended on that assignment and is now itself cut/repurposed as a result.</a:t>
            </a:r>
          </a:p>
          <a:p>
            <a:pPr>
              <a:spcAft>
                <a:spcPts val="1200"/>
              </a:spcAft>
            </a:pPr>
            <a:r>
              <a:rPr sz="2000"/>
              <a:t>Bridge line into day two: "Tomorrow, Projects and Cowork" — into module 7.</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Module 7 — Projects: Building a Persistent Workspace</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Module 7</a:t>
            </a:r>
          </a:p>
          <a:p>
            <a:pPr>
              <a:spcAft>
                <a:spcPts val="1200"/>
              </a:spcAft>
            </a:pPr>
            <a:r>
              <a:rPr sz="2000"/>
              <a:t>Projects: Building a Persistent Workspace</a:t>
            </a:r>
          </a:p>
          <a:p>
            <a:pPr>
              <a:spcAft>
                <a:spcPts val="1200"/>
              </a:spcAft>
            </a:pPr>
            <a:r>
              <a:rPr sz="2000"/>
              <a:t>(subtitle: stop re-explaining yourself every Monday)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Welcome to day two</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Not a full session anymore — day two now opens directly into this module rather than a separate debrief block, since the overnight assignment that block depended on no longer exists (see day-2-opening-outline.md).</a:t>
            </a:r>
          </a:p>
          <a:p>
            <a:pPr>
              <a:spcAft>
                <a:spcPts val="1200"/>
              </a:spcAft>
            </a:pPr>
            <a:r>
              <a:rPr sz="2000"/>
              <a:t>Quick framing only: day one was the conversation, day two is the system.</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The single-chat limitation</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The limitation of single-chat sessions, and why re-entering context costs so much productivity.</a:t>
            </a:r>
          </a:p>
          <a:p>
            <a:pPr>
              <a:spcAft>
                <a:spcPts val="1200"/>
              </a:spcAft>
            </a:pPr>
            <a:r>
              <a:rPr sz="2000"/>
              <a:t>(This is the pain day one deliberately left unresolved — callback to the friction named at the end of day one's brief, and to module 1's context rot slide.)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Live demonstration</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Single chat against Project-based output, compared side by side.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Building a Claude Project</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Building a Claude Project as a strategic command centre for each department.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Loading organisational context</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Loading organisational context: KPIs, SOPs, brand guidelines and strategic objectives.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Claude's memory feature</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What it is: Claude recalling facts and preferences across separate conversations, without them being deliberately reloaded into a Project each time. What it's good for — not repeating your role, team or preferences every session — and where it stops: it isn't a substitute for a properly configured Project when the context is department-wide and shared, not personal.</a:t>
            </a:r>
          </a:p>
          <a:p>
            <a:pPr>
              <a:spcAft>
                <a:spcPts val="1200"/>
              </a:spcAft>
            </a:pPr>
            <a:r>
              <a:rPr sz="2000"/>
              <a:t>Why it's here: participants need to know which of the two to reach for. Memory is personal and automatic; a Project is deliberate and shared.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Custom instructions and Styles</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Writing custom instructions and configuring Claude Styles for departmental communication.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Connectors</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Connectors: reading calendars and company tools with permission, and deciding where that permission should stop.</a:t>
            </a:r>
          </a:p>
          <a:p>
            <a:pPr>
              <a:spcAft>
                <a:spcPts val="1200"/>
              </a:spcAft>
            </a:pPr>
            <a:r>
              <a:rPr sz="2000"/>
              <a:t>(Ties back to module 3's data classification framework — worth an explicit callback rather than reintroducing permission boundaries from scratch.)</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Where a workspace earns its keep</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The recurring uses a departmental workspace earns its keep on: meeting preparation, weekly reviews, and turning notes into action items.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Hands-on</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Each participant builds and tests a fully configured strategic workspace.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Close / bridge to Module 8</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Recap: a Project holds context so it doesn't need re-loading.</a:t>
            </a:r>
          </a:p>
          <a:p>
            <a:pPr>
              <a:spcAft>
                <a:spcPts val="1200"/>
              </a:spcAft>
            </a:pPr>
            <a:r>
              <a:rPr sz="2000"/>
              <a:t>Bridge line into Module 8: "Claude Cowork" — a Project is yours alone; next is the shared version.</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Module 8 — Claude Cowork: The Shared Team Workspace</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Module 8</a:t>
            </a:r>
          </a:p>
          <a:p>
            <a:pPr>
              <a:spcAft>
                <a:spcPts val="1200"/>
              </a:spcAft>
            </a:pPr>
            <a:r>
              <a:rPr sz="2000"/>
              <a:t>Claude Cowork: The Shared Team Workspace</a:t>
            </a:r>
          </a:p>
          <a:p>
            <a:pPr>
              <a:spcAft>
                <a:spcPts val="1200"/>
              </a:spcAft>
            </a:pPr>
            <a:r>
              <a:rPr sz="2000"/>
              <a:t>(subtitle: a Project is yours; Cowork is the room's)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Project vs. Cowork</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Cowork: the shared team surface that sits alongside a personal Project, and which work belongs in which.</a:t>
            </a:r>
          </a:p>
          <a:p>
            <a:pPr>
              <a:spcAft>
                <a:spcPts val="1200"/>
              </a:spcAft>
            </a:pPr>
            <a:r>
              <a:rPr sz="2000"/>
              <a:t>A Project (module 7) is deliberate and personal — one person's department context, loaded and configured by them. Cowork is the shared version: a space multiple people work in together, in the same session, rather than each running their own private conversation and comparing notes after.</a:t>
            </a:r>
          </a:p>
          <a:p>
            <a:pPr>
              <a:spcAft>
                <a:spcPts val="1200"/>
              </a:spcAft>
            </a:pPr>
            <a:r>
              <a:rPr sz="2000"/>
              <a:t>(This is the third "which feature do I use" question of the day, after Project vs. single chat and Project vs. Memory in module 7 — worth the same comparison-slide treatment as those two.)</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Live demonstration</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The same collaborative task run as separate private chats vs. run together in Cowork, compared side by side.</a:t>
            </a:r>
          </a:p>
          <a:p>
            <a:pPr>
              <a:spcAft>
                <a:spcPts val="1200"/>
              </a:spcAft>
            </a:pPr>
            <a:r>
              <a:rPr sz="2000"/>
              <a:t>(Matches the before/after demonstration format already used in module 7's slide 4 — keeping that device consistent across the deck.)</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Setting up a Cowork session</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Starting a Cowork session, adding participants, and what each person sees.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What belongs in Cowork vs. a Project</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The practical dividing line: ongoing departmental context and personal working style belong in a Project; a specific task that needs multiple people's input in the same sitting belongs in Cowork.</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Hands-on: redo Six Thinking Hats, properly together</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Participants re-run the Six Thinking Hats exercise from day one's module 5 — same six-perspective structure, same kind of real business question — but this time actually together in Cowork instead of in small groups without a shared tool.</a:t>
            </a:r>
          </a:p>
          <a:p>
            <a:pPr>
              <a:spcAft>
                <a:spcPts val="1200"/>
              </a:spcAft>
            </a:pPr>
            <a:r>
              <a:rPr sz="2000"/>
              <a:t>The point is visible, not abstract: day one had to run this exercise the hard way because Cowork didn't exist yet in the room's toolkit. Now it does. This is the same before/after device used elsewhere in the deck (single chat vs. Project, with/without a Skill) — except here the "before" already happened, live, a full session earlier.</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Close / bridge to Module 9</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Recap: Cowork is where the room works together, not just where one person works alone.</a:t>
            </a:r>
          </a:p>
          <a:p>
            <a:pPr>
              <a:spcAft>
                <a:spcPts val="1200"/>
              </a:spcAft>
            </a:pPr>
            <a:r>
              <a:rPr sz="2000"/>
              <a:t>Bridge line into Module 9: "Artifacts" — from a shared conversation to a shared, editable output.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Module 9 — Artifacts: Interactive Dashboards and Reports</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Module 9</a:t>
            </a:r>
          </a:p>
          <a:p>
            <a:pPr>
              <a:spcAft>
                <a:spcPts val="1200"/>
              </a:spcAft>
            </a:pPr>
            <a:r>
              <a:rPr sz="2000"/>
              <a:t>Artifacts: Interactive Dashboards and Reports</a:t>
            </a:r>
          </a:p>
          <a:p>
            <a:pPr>
              <a:spcAft>
                <a:spcPts val="1200"/>
              </a:spcAft>
            </a:pPr>
            <a:r>
              <a:rPr sz="2000"/>
              <a:t>(subtitle: outputs you can keep changing)</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What Artifacts are</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Artifacts: editable, shareable outputs that open beside the chat, and when to reach for one.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Building the dashboard</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Building an interactive dashboard from business data — from a first visualisation through to filters, alerts and a KPI scorecard.</a:t>
            </a:r>
          </a:p>
          <a:p>
            <a:pPr>
              <a:spcAft>
                <a:spcPts val="1200"/>
              </a:spcAft>
            </a:pPr>
            <a:r>
              <a:rPr sz="2000"/>
              <a:t>(Uses the same 1,000-row dataset from module 6 (Data Analysis) — worth naming that continuity on the slide rather than reintroducing the data cold. Labelled Theory, not Practical: this is the facilitator walking through what goes into a dashboard before participants build their own in the hands-on slide.)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Iterating on an Artifact</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Iterating on an Artifact: changing structure, adding a metric, correcting a chart without starting again.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Hands-on</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Participants build a complete strategic dashboard from the day one dataset.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Close / bridge to Module 10</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Recap: Artifacts are for outputs you keep shaping. Next, the room stops shaping outputs and starts building tools.</a:t>
            </a:r>
          </a:p>
          <a:p>
            <a:pPr>
              <a:spcAft>
                <a:spcPts val="1200"/>
              </a:spcAft>
            </a:pPr>
            <a:r>
              <a:rPr sz="2000"/>
              <a:t>Bridge line into Module 10: "No-code application building."</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Module 10 — No-Code Application Building</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Module 10</a:t>
            </a:r>
          </a:p>
          <a:p>
            <a:pPr>
              <a:spcAft>
                <a:spcPts val="1200"/>
              </a:spcAft>
            </a:pPr>
            <a:r>
              <a:rPr sz="2000"/>
              <a:t>No-Code Application Building</a:t>
            </a:r>
          </a:p>
          <a:p>
            <a:pPr>
              <a:spcAft>
                <a:spcPts val="1200"/>
              </a:spcAft>
            </a:pPr>
            <a:r>
              <a:rPr sz="2000"/>
              <a:t>(subtitle: three working tools, no coding)</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Ideate, Iterate, Output</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The Ideate, Iterate, Output framework: building functional tools through natural language alone.</a:t>
            </a:r>
          </a:p>
          <a:p>
            <a:pPr>
              <a:spcAft>
                <a:spcPts val="1200"/>
              </a:spcAft>
            </a:pPr>
            <a:r>
              <a:rPr sz="2000"/>
              <a:t>(Third named framework of the course, after the 5 Ingredients and the Analysis Ladder — same treatment question applies: does this get its own sub-sequence?)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Build 1: Task management board</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Interactive task management board with drag-and-drop functionality.</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Build 2: Guest card personalisation</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Automated guest card personalisation, solving a real hotel workflow using a PNG template and guest data integration.</a:t>
            </a:r>
          </a:p>
          <a:p>
            <a:pPr>
              <a:spcAft>
                <a:spcPts val="1200"/>
              </a:spcAft>
            </a:pPr>
            <a:r>
              <a:rPr sz="2000"/>
              <a:t>(Written generically for other industries per the file's own note at course-productivity.html:9 — this build is hotel-specific by default and needs a swap-in equivalent for non-hospitality clients.)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Build 3: Weekly planner and meeting prep</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Weekly planner and meeting preparation tool, importing real scheduling data to analyse where the week actually goes, block time against priorities, generate prioritised agendas and produce Monday morning briefings.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Where this course stops</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An honest map of what sits beyond this course: Claude Code, Claude Design and scheduled automation — what each is for, and when a team is ready for them.</a:t>
            </a:r>
          </a:p>
          <a:p>
            <a:pPr>
              <a:spcAft>
                <a:spcPts val="1200"/>
              </a:spcAft>
            </a:pPr>
            <a:r>
              <a:rPr sz="2000"/>
              <a:t>(This is a credibility slide, not a sales slide — the module explicitly names its own ceiling.)</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Hands-on</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Participants build three working business applications in 80 minutes, without writing code.</a:t>
            </a:r>
          </a:p>
          <a:p>
            <a:pPr>
              <a:spcAft>
                <a:spcPts val="1200"/>
              </a:spcAft>
            </a:pPr>
            <a:r>
              <a:rPr sz="2000"/>
              <a:t>(Umbrella hands-on slide restating slides 3–5 — the three builds themselves are where the actual practical time lives, not a separate block after them.)</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Close / bridge to Module 11</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Recap: three tools built from nothing but a conversation.</a:t>
            </a:r>
          </a:p>
          <a:p>
            <a:pPr>
              <a:spcAft>
                <a:spcPts val="1200"/>
              </a:spcAft>
            </a:pPr>
            <a:r>
              <a:rPr sz="2000"/>
              <a:t>Bridge line into Module 11: "Capstone project and strategic deployment planning" — now, which of everything built across two days actually goes to work on Monday.</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Module 11 — Capstone Project and Strategic Deployment Planning</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Module 11</a:t>
            </a:r>
          </a:p>
          <a:p>
            <a:pPr>
              <a:spcAft>
                <a:spcPts val="1200"/>
              </a:spcAft>
            </a:pPr>
            <a:r>
              <a:rPr sz="2000"/>
              <a:t>Capstone Project and Strategic Deployment Planning</a:t>
            </a:r>
          </a:p>
          <a:p>
            <a:pPr>
              <a:spcAft>
                <a:spcPts val="1200"/>
              </a:spcAft>
            </a:pPr>
            <a:r>
              <a:rPr sz="2000"/>
              <a:t>(subtitle: what happens after today)</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Capstone presentations</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Each participant selects and presents their strongest deliverable from the workshop as a management-ready output.</a:t>
            </a:r>
          </a:p>
          <a:p>
            <a:pPr>
              <a:spcAft>
                <a:spcPts val="1200"/>
              </a:spcAft>
            </a:pPr>
            <a:r>
              <a:rPr sz="2000"/>
              <a:t>(Real time-risk with a full room — worth a visible-timer treatment.)</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The 30-day deployment plan</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The 30-day deployment plan: week one daily adoption, weeks two and three team onboarding, month one permanent workflow integration.</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The Team Cascade Kit</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The Team Cascade Kit: a structured guide for each participant to train their own team.</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A simple ROI calculation</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A simple ROI calculation: hours returned per person per week against the cost of the tooling, in numbers a manager can take upward.</a:t>
            </a:r>
          </a:p>
          <a:p>
            <a:pPr>
              <a:spcAft>
                <a:spcPts val="1200"/>
              </a:spcAft>
            </a:pPr>
            <a:r>
              <a:rPr sz="2000"/>
              <a:t>(This is the slide a participant screenshots to justify the course to their own manager — worth extra design attention.)</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Section: Prototype to pilot</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From prototype to pilot: choosing the one workflow to run properly for thirty days, and how to tell whether it worked.</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Personal roadmap</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Personal AI development roadmap and continued learning resources.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Two-day recap</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Two-day recap through the Claude 6 Main Pillars: Read, Write, Analyse, Automate, Think, Build.</a:t>
            </a:r>
          </a:p>
          <a:p>
            <a:pPr>
              <a:spcAft>
                <a:spcPts val="1200"/>
              </a:spcAft>
            </a:pPr>
            <a:r>
              <a:rPr sz="2000"/>
              <a:t>(Full-circle callback to module 1's framework introduction — worth designing as a visible pair with that slide.)</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6824960" cy="1371600"/>
          </a:xfrm>
          <a:prstGeom prst="rect">
            <a:avLst/>
          </a:prstGeom>
          <a:noFill/>
        </p:spPr>
        <p:txBody>
          <a:bodyPr wrap="square">
            <a:spAutoFit/>
          </a:bodyPr>
          <a:lstStyle/>
          <a:p>
            <a:r>
              <a:rPr sz="3600" b="1"/>
              <a:t>Close / bridge to Day Two Closing</a:t>
            </a:r>
          </a:p>
        </p:txBody>
      </p:sp>
      <p:sp>
        <p:nvSpPr>
          <p:cNvPr id="3" name="TextBox 2"/>
          <p:cNvSpPr txBox="1"/>
          <p:nvPr/>
        </p:nvSpPr>
        <p:spPr>
          <a:xfrm>
            <a:off x="731520" y="2011680"/>
            <a:ext cx="16824960" cy="7772400"/>
          </a:xfrm>
          <a:prstGeom prst="rect">
            <a:avLst/>
          </a:prstGeom>
          <a:noFill/>
        </p:spPr>
        <p:txBody>
          <a:bodyPr wrap="square">
            <a:spAutoFit/>
          </a:bodyPr>
          <a:lstStyle/>
          <a:p>
            <a:pPr>
              <a:spcAft>
                <a:spcPts val="1200"/>
              </a:spcAft>
            </a:pPr>
            <a:r>
              <a:rPr sz="2000"/>
              <a:t>Recap: presented, planned, costed, mapped forward.</a:t>
            </a:r>
          </a:p>
          <a:p>
            <a:pPr>
              <a:spcAft>
                <a:spcPts val="1200"/>
              </a:spcAft>
            </a:pPr>
            <a:r>
              <a:rPr sz="2000"/>
              <a:t>This is not the end of the course — bridge directly into the closing block: "Q&amp;A, certification, and photos," 4:30pm to 5:30pm.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